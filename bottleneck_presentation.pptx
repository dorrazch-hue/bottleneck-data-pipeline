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B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1B1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886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BottleNeck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6974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Automatisation de la chaîne de transformation et d'analyse de données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333756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Mise en œuvre d'un pipeline Kestra — nettoyage, jointure, chiffre d'affaires, détection des vins premium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59436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862B"/>
                </a:solidFill>
              </a:rPr>
              <a:t>Dorra  —  Data Engineer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1B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de la mission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5394960" cy="48463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630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1233"/>
                </a:solidFill>
              </a:rPr>
              <a:t>BottleNeck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011680"/>
            <a:ext cx="48463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1B18"/>
                </a:solidFill>
              </a:rPr>
              <a:t>Marchand de vin en ligne et auprès d'entreprises
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1B18"/>
                </a:solidFill>
              </a:rPr>
              <a:t>Deux systèmes de données distincts : ERP (stock/prix) et CMS (ventes web)
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1B18"/>
                </a:solidFill>
              </a:rPr>
              <a:t>Une première analyse manuelle réalisée par Stéphane, Data Analyst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63640" y="1234440"/>
            <a:ext cx="5285232" cy="4846320"/>
          </a:xfrm>
          <a:prstGeom prst="rect">
            <a:avLst/>
          </a:prstGeom>
          <a:solidFill>
            <a:srgbClr val="6B1233"/>
          </a:solidFill>
          <a:ln/>
        </p:spPr>
      </p:sp>
      <p:sp>
        <p:nvSpPr>
          <p:cNvPr id="7" name="Text 5"/>
          <p:cNvSpPr/>
          <p:nvPr/>
        </p:nvSpPr>
        <p:spPr>
          <a:xfrm>
            <a:off x="6537960" y="14630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</a:rPr>
              <a:t>Mon rôle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37960" y="201168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Automatiser la chaîne manuelle de Stéphane avec Kestra
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Fiabiliser chaque étape par des tests automatiques
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Livrer 3 extractions mensuelles : rapport CA, vins premium, vins ordinaires
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Planifier l'exécution automatique le 15 de chaque mois à 9h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1B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démarche à industrialiser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2514600" cy="2743200"/>
          </a:xfrm>
          <a:prstGeom prst="roundRect">
            <a:avLst>
              <a:gd name="adj" fmla="val 2909"/>
            </a:avLst>
          </a:prstGeom>
          <a:solidFill>
            <a:srgbClr val="F7F5F2"/>
          </a:solidFill>
          <a:ln w="12700">
            <a:solidFill>
              <a:srgbClr val="DEDA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7373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886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1233"/>
                </a:solidFill>
              </a:rPr>
              <a:t>Nettoyage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8803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550"/>
                </a:solidFill>
              </a:rPr>
              <a:t>Suppression des valeurs manquantes et dédoublonnage des 3 fichiers sources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182112" y="246888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8862B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83280" y="1554480"/>
            <a:ext cx="2514600" cy="27432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ED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17373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886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566160" y="23774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1233"/>
                </a:solidFill>
              </a:rPr>
              <a:t>Jointure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66160" y="28803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550"/>
                </a:solidFill>
              </a:rPr>
              <a:t>Fusion erp + web via le fichier liaison (clés : product_id / sku)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925312" y="246888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8862B"/>
                </a:solidFill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126480" y="1554480"/>
            <a:ext cx="2514600" cy="2743200"/>
          </a:xfrm>
          <a:prstGeom prst="roundRect">
            <a:avLst>
              <a:gd name="adj" fmla="val 2909"/>
            </a:avLst>
          </a:prstGeom>
          <a:solidFill>
            <a:srgbClr val="F7F5F2"/>
          </a:solidFill>
          <a:ln w="12700">
            <a:solidFill>
              <a:srgbClr val="DEDA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17373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886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309360" y="23774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1233"/>
                </a:solidFill>
              </a:rPr>
              <a:t>Chiffre d'affaires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09360" y="28803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550"/>
                </a:solidFill>
              </a:rPr>
              <a:t>Calcul du CA par produit et du CA total sur les données fusionnées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668512" y="246888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8862B"/>
                </a:solidFill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8869680" y="1554480"/>
            <a:ext cx="2514600" cy="27432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EDA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17373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886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9052560" y="23774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1233"/>
                </a:solidFill>
              </a:rPr>
              <a:t>Z-score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052560" y="28803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550"/>
                </a:solidFill>
              </a:rPr>
              <a:t>Identification des vins premium (z-score &gt; 2) et ordinaires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45720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5550"/>
                </a:solidFill>
              </a:rPr>
              <a:t>Source : démarche transmise par Laurent (manager Data) — basée sur le travail de Stéphane, Data Analyst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1B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Logigramme de l'automatisation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550"/>
                </a:solidFill>
              </a:rPr>
              <a:t>Conçu sur Draw.io — 3 nettoyages en parallèle, puis flux séquentiel, chaque étape validée par un test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914400" y="1417320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4173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1B18"/>
                </a:solidFill>
              </a:rPr>
              <a:t>erp.xlsx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14400" y="205740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EDE7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574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1B18"/>
                </a:solidFill>
              </a:rPr>
              <a:t>Nettoyage +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F1B18"/>
                </a:solidFill>
              </a:rPr>
              <a:t>dédoublonnage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14400" y="2788920"/>
            <a:ext cx="2377440" cy="365760"/>
          </a:xfrm>
          <a:prstGeom prst="roundRect">
            <a:avLst>
              <a:gd name="adj" fmla="val 15000"/>
            </a:avLst>
          </a:prstGeom>
          <a:solidFill>
            <a:srgbClr val="6B12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788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Test qualité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103120" y="1828800"/>
            <a:ext cx="0" cy="228600"/>
          </a:xfrm>
          <a:prstGeom prst="line">
            <a:avLst/>
          </a:prstGeom>
          <a:noFill/>
          <a:ln w="19050">
            <a:solidFill>
              <a:srgbClr val="9A949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103120" y="2560320"/>
            <a:ext cx="0" cy="228600"/>
          </a:xfrm>
          <a:prstGeom prst="line">
            <a:avLst/>
          </a:prstGeom>
          <a:noFill/>
          <a:ln w="19050">
            <a:solidFill>
              <a:srgbClr val="9A949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434840" y="1417320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34840" y="14173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1B18"/>
                </a:solidFill>
              </a:rPr>
              <a:t>liaison.xlsx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34840" y="205740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EDE7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34840" y="20574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1B18"/>
                </a:solidFill>
              </a:rPr>
              <a:t>Nettoyage +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F1B18"/>
                </a:solidFill>
              </a:rPr>
              <a:t>dédoublonnage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434840" y="2788920"/>
            <a:ext cx="2377440" cy="365760"/>
          </a:xfrm>
          <a:prstGeom prst="roundRect">
            <a:avLst>
              <a:gd name="adj" fmla="val 15000"/>
            </a:avLst>
          </a:prstGeom>
          <a:solidFill>
            <a:srgbClr val="6B12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34840" y="2788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Test qualité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623560" y="1828800"/>
            <a:ext cx="0" cy="228600"/>
          </a:xfrm>
          <a:prstGeom prst="line">
            <a:avLst/>
          </a:prstGeom>
          <a:noFill/>
          <a:ln w="19050">
            <a:solidFill>
              <a:srgbClr val="9A949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623560" y="2560320"/>
            <a:ext cx="0" cy="228600"/>
          </a:xfrm>
          <a:prstGeom prst="line">
            <a:avLst/>
          </a:prstGeom>
          <a:noFill/>
          <a:ln w="19050">
            <a:solidFill>
              <a:srgbClr val="9A949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955280" y="1417320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0" y="14173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1B18"/>
                </a:solidFill>
              </a:rPr>
              <a:t>web.xlsx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955280" y="205740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EDE7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0" y="20574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1B18"/>
                </a:solidFill>
              </a:rPr>
              <a:t>Nettoyage +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F1B18"/>
                </a:solidFill>
              </a:rPr>
              <a:t>dédoublonnage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955280" y="2788920"/>
            <a:ext cx="2377440" cy="365760"/>
          </a:xfrm>
          <a:prstGeom prst="roundRect">
            <a:avLst>
              <a:gd name="adj" fmla="val 15000"/>
            </a:avLst>
          </a:prstGeom>
          <a:solidFill>
            <a:srgbClr val="6B12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55280" y="2788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Test qualité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9144000" y="1828800"/>
            <a:ext cx="0" cy="228600"/>
          </a:xfrm>
          <a:prstGeom prst="line">
            <a:avLst/>
          </a:prstGeom>
          <a:noFill/>
          <a:ln w="19050">
            <a:solidFill>
              <a:srgbClr val="9A9490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144000" y="2560320"/>
            <a:ext cx="0" cy="228600"/>
          </a:xfrm>
          <a:prstGeom prst="line">
            <a:avLst/>
          </a:prstGeom>
          <a:noFill/>
          <a:ln w="19050">
            <a:solidFill>
              <a:srgbClr val="9A949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434840" y="3429000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1F1B1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34840" y="34290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862B"/>
                </a:solidFill>
              </a:rPr>
              <a:t>Jointure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103120" y="3154680"/>
            <a:ext cx="3017520" cy="274320"/>
          </a:xfrm>
          <a:prstGeom prst="line">
            <a:avLst/>
          </a:prstGeom>
          <a:noFill/>
          <a:ln w="19050">
            <a:solidFill>
              <a:srgbClr val="9A9490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5623560" y="3154680"/>
            <a:ext cx="0" cy="274320"/>
          </a:xfrm>
          <a:prstGeom prst="line">
            <a:avLst/>
          </a:prstGeom>
          <a:noFill/>
          <a:ln w="19050">
            <a:solidFill>
              <a:srgbClr val="9A9490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144000" y="3154680"/>
            <a:ext cx="-3017520" cy="274320"/>
          </a:xfrm>
          <a:prstGeom prst="line">
            <a:avLst/>
          </a:prstGeom>
          <a:noFill/>
          <a:ln w="19050">
            <a:solidFill>
              <a:srgbClr val="9A9490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4434840" y="3977640"/>
            <a:ext cx="2377440" cy="365760"/>
          </a:xfrm>
          <a:prstGeom prst="roundRect">
            <a:avLst>
              <a:gd name="adj" fmla="val 15000"/>
            </a:avLst>
          </a:prstGeom>
          <a:solidFill>
            <a:srgbClr val="6B12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34840" y="3977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Test jointure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623560" y="3840480"/>
            <a:ext cx="0" cy="137160"/>
          </a:xfrm>
          <a:prstGeom prst="line">
            <a:avLst/>
          </a:prstGeom>
          <a:noFill/>
          <a:ln w="19050">
            <a:solidFill>
              <a:srgbClr val="9A949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4434840" y="4526280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EDE7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34840" y="45262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1B18"/>
                </a:solidFill>
              </a:rPr>
              <a:t>Calcul du CA + test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23560" y="4343400"/>
            <a:ext cx="0" cy="182880"/>
          </a:xfrm>
          <a:prstGeom prst="line">
            <a:avLst/>
          </a:prstGeom>
          <a:noFill/>
          <a:ln w="19050">
            <a:solidFill>
              <a:srgbClr val="9A9490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4434840" y="5074920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EDE7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34840" y="50749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1B18"/>
                </a:solidFill>
              </a:rPr>
              <a:t>Détection z-score + test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623560" y="4937760"/>
            <a:ext cx="0" cy="137160"/>
          </a:xfrm>
          <a:prstGeom prst="line">
            <a:avLst/>
          </a:prstGeom>
          <a:noFill/>
          <a:ln w="19050">
            <a:solidFill>
              <a:srgbClr val="9A949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914400" y="5806440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3E7C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580644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Rapport CA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(.xlsx)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434840" y="5806440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3E7C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34840" y="580644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Vins premium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(.csv)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955280" y="5806440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3E7C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55280" y="580644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Vins ordinaires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(.csv)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937760" y="5486400"/>
            <a:ext cx="-2834640" cy="320040"/>
          </a:xfrm>
          <a:prstGeom prst="line">
            <a:avLst/>
          </a:prstGeom>
          <a:noFill/>
          <a:ln w="19050">
            <a:solidFill>
              <a:srgbClr val="9A9490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623560" y="5486400"/>
            <a:ext cx="0" cy="320040"/>
          </a:xfrm>
          <a:prstGeom prst="line">
            <a:avLst/>
          </a:prstGeom>
          <a:noFill/>
          <a:ln w="19050">
            <a:solidFill>
              <a:srgbClr val="9A9490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6309360" y="5486400"/>
            <a:ext cx="2834640" cy="320040"/>
          </a:xfrm>
          <a:prstGeom prst="line">
            <a:avLst/>
          </a:prstGeom>
          <a:noFill/>
          <a:ln w="19050">
            <a:solidFill>
              <a:srgbClr val="9A949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1B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technique sur Kestra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57800" cy="21031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55448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1233"/>
                </a:solidFill>
              </a:rPr>
              <a:t>WorkingDirectory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2057400"/>
            <a:ext cx="4709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B18"/>
                </a:solidFill>
              </a:rPr>
              <a:t>Un dossier de travail partagé pour toutes les tâches : chaque script lit/écrit ses fichiers sans configuration complexe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172200" y="1371600"/>
            <a:ext cx="5257800" cy="21031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7" name="Text 5"/>
          <p:cNvSpPr/>
          <p:nvPr/>
        </p:nvSpPr>
        <p:spPr>
          <a:xfrm>
            <a:off x="6446520" y="155448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1233"/>
                </a:solidFill>
              </a:rPr>
              <a:t>Namespace Files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46520" y="2057400"/>
            <a:ext cx="4709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B18"/>
                </a:solidFill>
              </a:rPr>
              <a:t>Les 3 fichiers sources et les scripts sont déposés une fois dans Kestra ; il suffira de les remplacer chaque mois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5257800" cy="21031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93192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1233"/>
                </a:solidFill>
              </a:rPr>
              <a:t>DuckDB (JDBC)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4434840"/>
            <a:ext cx="4709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B18"/>
                </a:solidFill>
              </a:rPr>
              <a:t>Moteur SQL intégré à Kestra pour le nettoyage, la jointure et le calcul du CA — rapide, sans conteneur supplémentaire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3749040"/>
            <a:ext cx="5257800" cy="21031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393192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1233"/>
                </a:solidFill>
              </a:rPr>
              <a:t>Tests via error()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46520" y="4434840"/>
            <a:ext cx="4709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B18"/>
                </a:solidFill>
              </a:rPr>
              <a:t>Chaque étape est suivie d'un contrôle SQL qui fait échouer la tâche (donc alerte l'équipe) si un critère n'est pas respecté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1B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workflow, exécution réelle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3E7C4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2763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nettoyage_erp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852928" y="155448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3E7C4A"/>
          </a:solidFill>
          <a:ln/>
        </p:spPr>
      </p:sp>
      <p:sp>
        <p:nvSpPr>
          <p:cNvPr id="7" name="Text 5"/>
          <p:cNvSpPr/>
          <p:nvPr/>
        </p:nvSpPr>
        <p:spPr>
          <a:xfrm>
            <a:off x="2944368" y="162763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944368" y="20116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test_erp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65776" y="155448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3E7C4A"/>
          </a:solidFill>
          <a:ln/>
        </p:spPr>
      </p:sp>
      <p:sp>
        <p:nvSpPr>
          <p:cNvPr id="10" name="Text 8"/>
          <p:cNvSpPr/>
          <p:nvPr/>
        </p:nvSpPr>
        <p:spPr>
          <a:xfrm>
            <a:off x="5157216" y="162763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157216" y="20116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nettoyage_web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78624" y="155448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3E7C4A"/>
          </a:solidFill>
          <a:ln/>
        </p:spPr>
      </p:sp>
      <p:sp>
        <p:nvSpPr>
          <p:cNvPr id="13" name="Text 11"/>
          <p:cNvSpPr/>
          <p:nvPr/>
        </p:nvSpPr>
        <p:spPr>
          <a:xfrm>
            <a:off x="7370064" y="162763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70064" y="20116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test_web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491472" y="155448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3E7C4A"/>
          </a:solidFill>
          <a:ln/>
        </p:spPr>
      </p:sp>
      <p:sp>
        <p:nvSpPr>
          <p:cNvPr id="16" name="Text 14"/>
          <p:cNvSpPr/>
          <p:nvPr/>
        </p:nvSpPr>
        <p:spPr>
          <a:xfrm>
            <a:off x="9582912" y="162763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582912" y="20116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nettoyage_liaison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01752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3E7C4A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09067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✓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31520" y="34747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test_liaison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852928" y="301752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3E7C4A"/>
          </a:solidFill>
          <a:ln/>
        </p:spPr>
      </p:sp>
      <p:sp>
        <p:nvSpPr>
          <p:cNvPr id="22" name="Text 20"/>
          <p:cNvSpPr/>
          <p:nvPr/>
        </p:nvSpPr>
        <p:spPr>
          <a:xfrm>
            <a:off x="2944368" y="309067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944368" y="34747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jointure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65776" y="301752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3E7C4A"/>
          </a:solidFill>
          <a:ln/>
        </p:spPr>
      </p:sp>
      <p:sp>
        <p:nvSpPr>
          <p:cNvPr id="25" name="Text 23"/>
          <p:cNvSpPr/>
          <p:nvPr/>
        </p:nvSpPr>
        <p:spPr>
          <a:xfrm>
            <a:off x="5157216" y="309067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✓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157216" y="34747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test_jointure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278624" y="301752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3E7C4A"/>
          </a:solidFill>
          <a:ln/>
        </p:spPr>
      </p:sp>
      <p:sp>
        <p:nvSpPr>
          <p:cNvPr id="28" name="Text 26"/>
          <p:cNvSpPr/>
          <p:nvPr/>
        </p:nvSpPr>
        <p:spPr>
          <a:xfrm>
            <a:off x="7370064" y="309067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✓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370064" y="34747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calcul_ca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491472" y="301752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3E7C4A"/>
          </a:solidFill>
          <a:ln/>
        </p:spPr>
      </p:sp>
      <p:sp>
        <p:nvSpPr>
          <p:cNvPr id="31" name="Text 29"/>
          <p:cNvSpPr/>
          <p:nvPr/>
        </p:nvSpPr>
        <p:spPr>
          <a:xfrm>
            <a:off x="9582912" y="309067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✓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582912" y="34747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test_ca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" y="47091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5550"/>
                </a:solidFill>
              </a:rPr>
              <a:t>10 tâches validées en exécution réelle dans Kestra — pipeline nettoyage → jointure → chiffre d'affaires, chacune suivie de son test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0080" y="5166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1233"/>
                </a:solidFill>
              </a:rPr>
              <a:t>Étape suivante : intégration du script Python de détection z-score (voir diapositive « défis techniques »)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1B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Résultats validés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1371600"/>
          <a:ext cx="9418320" cy="4206240"/>
        </p:xfrm>
        <a:graphic>
          <a:graphicData uri="http://schemas.openxmlformats.org/drawingml/2006/table">
            <a:tbl>
              <a:tblPr/>
              <a:tblGrid>
                <a:gridCol w="4114800"/>
                <a:gridCol w="3108960"/>
                <a:gridCol w="2194560"/>
              </a:tblGrid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Étape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12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Attendu (Laurent)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12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Obtenu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1233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B18"/>
                          </a:solidFill>
                        </a:rPr>
                        <a:t>erp nettoyé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B18"/>
                          </a:solidFill>
                        </a:rPr>
                        <a:t>825 lignes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B18"/>
                          </a:solidFill>
                        </a:rPr>
                        <a:t>825 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B18"/>
                          </a:solidFill>
                        </a:rPr>
                        <a:t>liaison nettoyé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B18"/>
                          </a:solidFill>
                        </a:rPr>
                        <a:t>825 lignes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B18"/>
                          </a:solidFill>
                        </a:rPr>
                        <a:t>825 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B18"/>
                          </a:solidFill>
                        </a:rPr>
                        <a:t>web nettoyé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B18"/>
                          </a:solidFill>
                        </a:rPr>
                        <a:t>1428 lignes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B18"/>
                          </a:solidFill>
                        </a:rPr>
                        <a:t>1428 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B18"/>
                          </a:solidFill>
                        </a:rPr>
                        <a:t>web dédoublonné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B18"/>
                          </a:solidFill>
                        </a:rPr>
                        <a:t>714 lignes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B18"/>
                          </a:solidFill>
                        </a:rPr>
                        <a:t>714 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B18"/>
                          </a:solidFill>
                        </a:rPr>
                        <a:t>Fichier fusionné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B18"/>
                          </a:solidFill>
                        </a:rPr>
                        <a:t>714 lignes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B18"/>
                          </a:solidFill>
                        </a:rPr>
                        <a:t>714 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B18"/>
                          </a:solidFill>
                        </a:rPr>
                        <a:t>CA total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B18"/>
                          </a:solidFill>
                        </a:rPr>
                        <a:t>70 568,60 €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B18"/>
                          </a:solidFill>
                        </a:rPr>
                        <a:t>70 568,60 € 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B18"/>
                          </a:solidFill>
                        </a:rPr>
                        <a:t>Vins premium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B18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B18"/>
                          </a:solidFill>
                        </a:rPr>
                        <a:t>30 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5550"/>
                </a:solidFill>
              </a:rPr>
              <a:t>Chaque chiffre a été vérifié sur les données réelles avant intégration dans Kestra, puis confirmé en exécution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1B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Défis techniques rencontrés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57800" cy="21031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55448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1233"/>
                </a:solidFill>
              </a:rPr>
              <a:t>Données hétérogènes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029968"/>
            <a:ext cx="47091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18"/>
                </a:solidFill>
              </a:rPr>
              <a:t>Un produit « bon cadeau » avait un identifiant texte, pas numérique — corrigé en forcânt la lecture en texte puis reconversion ciblée (TRY_CAST)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172200" y="1371600"/>
            <a:ext cx="5257800" cy="21031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7" name="Text 5"/>
          <p:cNvSpPr/>
          <p:nvPr/>
        </p:nvSpPr>
        <p:spPr>
          <a:xfrm>
            <a:off x="6446520" y="155448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1233"/>
                </a:solidFill>
              </a:rPr>
              <a:t>Dédoublonnage ambigu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46520" y="2029968"/>
            <a:ext cx="47091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18"/>
                </a:solidFill>
              </a:rPr>
              <a:t>Le fichier web contient 2 lignes par produit avec des chiffres de vente parfois différents — résolu en priorisant explicitement la ligne « product »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5257800" cy="21031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93192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1233"/>
                </a:solidFill>
              </a:rPr>
              <a:t>Isolation des conteneurs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4407408"/>
            <a:ext cx="47091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18"/>
                </a:solidFill>
              </a:rPr>
              <a:t>Un script Python dans un conteneur Docker séparé ne partage pas automatiquement les fichiers du pipeline — intégration en cours de finalisation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3749040"/>
            <a:ext cx="5257800" cy="21031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393192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1233"/>
                </a:solidFill>
              </a:rPr>
              <a:t>Robustesse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46520" y="4407408"/>
            <a:ext cx="47091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18"/>
                </a:solidFill>
              </a:rPr>
              <a:t>Chaque test utilise la fonction error() de DuckDB : un contrôle échoué fait échouer la tâche et peut déclencher une alerte, plutôt que de laisser passer une donnée invalide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1B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Pistes d'amélioration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058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Paralléliser les 3 nettoyages (erp/web/liaison) pour réduire le temps d'exécution
</a:t>
            </a:r>
            <a:endParaRPr lang="en-US" sz="1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Finaliser l'intégration du script Python z-score dans le conteneur isolé
</a:t>
            </a:r>
            <a:endParaRPr lang="en-US" sz="1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Ajouter une notification (email/Slack) automatique en cas d'échec d'un test
</a:t>
            </a:r>
            <a:endParaRPr lang="en-US" sz="1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Historiser les chiffres de contrôle mois par mois pour détecter des anomalies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51206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886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de votre attention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57607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Questions 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2026-08-24T11:25:47Z</dcterms:created>
  <dcterms:modified xsi:type="dcterms:W3CDTF">2026-08-24T11:25:47Z</dcterms:modified>
</cp:coreProperties>
</file>