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3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33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8D4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de la chaîne de transformation et d'analyse de données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Kestra complet : nettoyage, jointure, chiffre d'affaires, détection des vins premium, planification automatique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4E5"/>
                </a:solidFill>
              </a:rPr>
              <a:t>Dorra  —  Data Engineer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de la 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48463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62A8"/>
                </a:solidFill>
              </a:rPr>
              <a:t>BottleNeck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3363"/>
                </a:solidFill>
              </a:rPr>
              <a:t>Marchand de vin en ligne et auprès d'entreprises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3363"/>
                </a:solidFill>
              </a:rPr>
              <a:t>Deux systèmes de données distincts : ERP (stock/prix) et CMS (ventes web)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3363"/>
                </a:solidFill>
              </a:rPr>
              <a:t>Une première analyse manuelle réalisée par Stéphane, Data Analyst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285232" cy="4846320"/>
          </a:xfrm>
          <a:prstGeom prst="rect">
            <a:avLst/>
          </a:prstGeom>
          <a:solidFill>
            <a:srgbClr val="8862A8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4E5"/>
                </a:solidFill>
              </a:rPr>
              <a:t>Mon rôle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Automatiser la chaîne manuelle de Stéphane avec Kestra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Fiabiliser chaque étape par des tests automatiques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Livrer 3 extractions mensuelles : rapport CA, vins premium, vins ordinaires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Planifier l'exécution automatique le 15 de chaque mois à 9h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démarche à industrialiser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0E2CC"/>
          </a:solidFill>
          <a:ln w="12700">
            <a:solidFill>
              <a:srgbClr val="E5D5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4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62A8"/>
                </a:solidFill>
              </a:rPr>
              <a:t>Nettoyage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85"/>
                </a:solidFill>
              </a:rPr>
              <a:t>Suppression des valeurs manquantes et dédoublonnage des 3 fichiers sources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82112" y="2468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4E5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D5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4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62A8"/>
                </a:solidFill>
              </a:rPr>
              <a:t>Jointure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880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85"/>
                </a:solidFill>
              </a:rPr>
              <a:t>Fusion erp + web via le fichier liaison (clés : product_id / sku)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25312" y="2468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4E5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0E2CC"/>
          </a:solidFill>
          <a:ln w="12700">
            <a:solidFill>
              <a:srgbClr val="E5D5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4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62A8"/>
                </a:solidFill>
              </a:rPr>
              <a:t>Chiffre d'affaires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880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85"/>
                </a:solidFill>
              </a:rPr>
              <a:t>Calcul du CA par produit et du CA total sur les données fusionnées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68512" y="2468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4E5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869680" y="15544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D5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4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5256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62A8"/>
                </a:solidFill>
              </a:rPr>
              <a:t>Z-score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0" y="2880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85"/>
                </a:solidFill>
              </a:rPr>
              <a:t>Identification des vins premium (z-score &gt; 2) et ordinaires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085"/>
                </a:solidFill>
              </a:rPr>
              <a:t>Source : démarche transmise par Laurent (manager Data) — basée sur le travail de Stéphane, Data Analyst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Logigramme de l'automatisation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085"/>
                </a:solidFill>
              </a:rPr>
              <a:t>Conçu sur Draw.io — 3 nettoyages en parallèle, puis flux séquentiel, chaque étape validée par un test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A8D4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363"/>
                </a:solidFill>
              </a:rPr>
              <a:t>erp.xlsx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7E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3363"/>
                </a:solidFill>
              </a:rPr>
              <a:t>Nettoyage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3363"/>
                </a:solidFill>
              </a:rPr>
              <a:t>dédoublonnage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8862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qualité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828800"/>
            <a:ext cx="0" cy="22860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03120" y="2560320"/>
            <a:ext cx="0" cy="22860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34840" y="14173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A8D4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363"/>
                </a:solidFill>
              </a:rPr>
              <a:t>liaison.xlsx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7E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3363"/>
                </a:solidFill>
              </a:rPr>
              <a:t>Nettoyage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3363"/>
                </a:solidFill>
              </a:rPr>
              <a:t>dédoublonnage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278892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8862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qualité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1828800"/>
            <a:ext cx="0" cy="22860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23560" y="2560320"/>
            <a:ext cx="0" cy="22860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14173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A8D4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363"/>
                </a:solidFill>
              </a:rPr>
              <a:t>web.xlsx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0" y="20574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7E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3363"/>
                </a:solidFill>
              </a:rPr>
              <a:t>Nettoyage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3363"/>
                </a:solidFill>
              </a:rPr>
              <a:t>dédoublonnage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55280" y="278892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8862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qualité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0" y="1828800"/>
            <a:ext cx="0" cy="22860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00" y="2560320"/>
            <a:ext cx="0" cy="22860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34840" y="342900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4A33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429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D4E5"/>
                </a:solidFill>
              </a:rPr>
              <a:t>Jointure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3154680"/>
            <a:ext cx="3017520" cy="27432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23560" y="3154680"/>
            <a:ext cx="0" cy="27432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4000" y="3154680"/>
            <a:ext cx="-3017520" cy="27432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34840" y="397764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8862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jointure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23560" y="3840480"/>
            <a:ext cx="0" cy="13716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434840" y="452628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7E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526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63"/>
                </a:solidFill>
              </a:rPr>
              <a:t>Calcul du CA + test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23560" y="4343400"/>
            <a:ext cx="0" cy="18288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434840" y="50749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7E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5074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63"/>
                </a:solidFill>
              </a:rPr>
              <a:t>Détection z-score + test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23560" y="4937760"/>
            <a:ext cx="0" cy="13716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14400" y="58064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E8B4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806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63"/>
                </a:solidFill>
              </a:rPr>
              <a:t>Rapport 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3363"/>
                </a:solidFill>
              </a:rPr>
              <a:t>(.xlsx)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34840" y="58064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E8B4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5806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63"/>
                </a:solidFill>
              </a:rPr>
              <a:t>Vins premium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3363"/>
                </a:solidFill>
              </a:rPr>
              <a:t>(.csv)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55280" y="58064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E8B4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0" y="5806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63"/>
                </a:solidFill>
              </a:rPr>
              <a:t>Vins ordinaires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3363"/>
                </a:solidFill>
              </a:rPr>
              <a:t>(.csv)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37760" y="5486400"/>
            <a:ext cx="-2834640" cy="32004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623560" y="5486400"/>
            <a:ext cx="0" cy="32004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309360" y="5486400"/>
            <a:ext cx="2834640" cy="320040"/>
          </a:xfrm>
          <a:prstGeom prst="line">
            <a:avLst/>
          </a:prstGeom>
          <a:noFill/>
          <a:ln w="19050">
            <a:solidFill>
              <a:srgbClr val="A79CB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 sur Kestra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21031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62A8"/>
                </a:solidFill>
              </a:rPr>
              <a:t>Parallel + WorkingDirectory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363"/>
                </a:solidFill>
              </a:rPr>
              <a:t>Les 3 nettoyages (erp/web/liaison) tournent en parallèle (tâche Parallel), chacun dans son propre WorkingDirectory pour charger les fichiers sources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257800" cy="21031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554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62A8"/>
                </a:solidFill>
              </a:rPr>
              <a:t>Namespace Files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05740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363"/>
                </a:solidFill>
              </a:rPr>
              <a:t>Les 3 fichiers sources et les scripts sont déposés une fois dans Kestra ; il suffira de les remplacer chaque mois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257800" cy="21031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62A8"/>
                </a:solidFill>
              </a:rPr>
              <a:t>Planification + résilience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363"/>
                </a:solidFill>
              </a:rPr>
              <a:t>Déclenchement automatique via cron (15 du mois, 9h), retry (3 tentatives) sur chaque tâche, alerte automatique en cas d'échec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3749040"/>
            <a:ext cx="5257800" cy="21031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9319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62A8"/>
                </a:solidFill>
              </a:rPr>
              <a:t>Switch de routage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44348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363"/>
                </a:solidFill>
              </a:rPr>
              <a:t>Un comptage des vins premium détectés décide du chemin : s'il y en a au moins un, extraction des deux catégories ; sinon, extraction des ordinaires seuls + alerte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Topologie du workflow dans Kestra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085"/>
                </a:solidFill>
              </a:rPr>
              <a:t>Capture d'écran réelle de Kestra (onglet Topology) — déclencheur, nettoyages en parallèle (3 branches), suite du pipeline, comptage et Switch de routage des extractions</a:t>
            </a:r>
            <a:endParaRPr lang="en-US" sz="1200" dirty="0"/>
          </a:p>
        </p:txBody>
      </p:sp>
      <p:pic>
        <p:nvPicPr>
          <p:cNvPr id="4" name="Image 0" descr="/home/claude/pptx_work3/topology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280160"/>
            <a:ext cx="3931920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Exécution complète réussie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085"/>
                </a:solidFill>
              </a:rPr>
              <a:t>Exécution réelle et complète (capture Kestra) — les 3 nettoyages tournent bien en parallèle (barres alignées), puis jointure → CA → z-score → Switch → extractions premium/ordinaires, toutes en succès</a:t>
            </a:r>
            <a:endParaRPr lang="en-US" sz="1200" dirty="0"/>
          </a:p>
        </p:txBody>
      </p:sp>
      <p:pic>
        <p:nvPicPr>
          <p:cNvPr id="4" name="Image 0" descr="/home/claude/pptx_work3/gantt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83112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et résilience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8B4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63"/>
                </a:solidFill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389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363"/>
                </a:solidFill>
              </a:rPr>
              <a:t>Absence de doublons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4920" y="13898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085"/>
                </a:solidFill>
              </a:rPr>
              <a:t>Sur erp, web et liaison, après nettoyage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8424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8B4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84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63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568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363"/>
                </a:solidFill>
              </a:rPr>
              <a:t>Absence de valeurs manquantes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9568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085"/>
                </a:solidFill>
              </a:rPr>
              <a:t>Sur les clés primaires de chaque fichier source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55117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8B4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511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63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5237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363"/>
                </a:solidFill>
              </a:rPr>
              <a:t>Cohérence de la jointure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52374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085"/>
                </a:solidFill>
              </a:rPr>
              <a:t>Aucune ligne perdue ou dupliquée par le JOIN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11810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8B4C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181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63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90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363"/>
                </a:solidFill>
              </a:rPr>
              <a:t>Cohérence du chiffre d'affaires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0906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085"/>
                </a:solidFill>
              </a:rPr>
              <a:t>Somme du détail par produit = total calculé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8B4C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5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63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363"/>
                </a:solidFill>
              </a:rPr>
              <a:t>Cohérence du z-score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3657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085"/>
                </a:solidFill>
              </a:rPr>
              <a:t>Classification premium/ordinaire respecte bien le seuil de 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solidFill>
            <a:srgbClr val="8862A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Chaque test utilise la fonction error() de DuckDB : un contrôle échoué fait échouer la tâche, déclenche jusqu'à 3 tentatives (retry), puis une alerte automatique si l'échec persiste — plutôt que de laisser passer une donnée invalide.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validés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9418320" cy="4206240"/>
        </p:xfrm>
        <a:graphic>
          <a:graphicData uri="http://schemas.openxmlformats.org/drawingml/2006/table">
            <a:tbl>
              <a:tblPr/>
              <a:tblGrid>
                <a:gridCol w="4114800"/>
                <a:gridCol w="3108960"/>
                <a:gridCol w="2194560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Étape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6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Attendu (Laurent)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6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Obtenu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62A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erp nettoyé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825 lignes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825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liaison nettoyé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825 lignes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825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web nettoyé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1428 lignes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1428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web dédoublonné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714 lignes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714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Fichier fusionné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714 lignes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714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CA total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70 568,60 €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70 568,60 €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C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Vins premium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363"/>
                          </a:solidFill>
                        </a:rPr>
                        <a:t>30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085"/>
                </a:solidFill>
              </a:rPr>
              <a:t>Chaque chiffre a été vérifié sur les données réelles avant intégration dans Kestra, puis confirmé en exécution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Défis techniques rencontrés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21031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62A8"/>
                </a:solidFill>
              </a:rPr>
              <a:t>Données hétérogènes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29968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363"/>
                </a:solidFill>
              </a:rPr>
              <a:t>Un produit « bon cadeau » avait un identifiant texte, pas numérique — corrigé en forçant la lecture en texte puis reconversion ciblée (TRY_CAST)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257800" cy="21031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554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62A8"/>
                </a:solidFill>
              </a:rPr>
              <a:t>Dédoublonnage ambigu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029968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363"/>
                </a:solidFill>
              </a:rPr>
              <a:t>Le fichier web contient 2 lignes par produit avec des chiffres de vente parfois différents — résolu en priorisant explicitement la ligne « product 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257800" cy="21031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62A8"/>
                </a:solidFill>
              </a:rPr>
              <a:t>Partage de fichiers entre moteurs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07408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363"/>
                </a:solidFill>
              </a:rPr>
              <a:t>Un script Python isolé ne trouvait jamais le fichier produit par SQL — diagnostiqué (recherche système) : les tâches SQL et le serveur Kestra partagent /app, le Python a son propre dossier. Résolu.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3749040"/>
            <a:ext cx="5257800" cy="2103120"/>
          </a:xfrm>
          <a:prstGeom prst="rect">
            <a:avLst/>
          </a:prstGeom>
          <a:solidFill>
            <a:srgbClr val="F0E2C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9319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62A8"/>
                </a:solidFill>
              </a:rPr>
              <a:t>Condition du Switch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4407408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363"/>
                </a:solidFill>
              </a:rPr>
              <a:t>Impossible de faire lire au Switch une valeur calculée directement — résolu en séparant comptage (toujours réussi) et vérification (échoue si zéro), le Switch lisant l'état de la vérification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3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33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D4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BottleNeck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C5E8"/>
                </a:solidFill>
              </a:rPr>
              <a:t>Nettoyage parallélisé → jointure → chiffre d'affaires → détection z-score → extractions conditionnelles, entièrement automatisé et testé sur Kestra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D4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2026-08-28T13:51:48Z</dcterms:created>
  <dcterms:modified xsi:type="dcterms:W3CDTF">2026-08-28T13:51:48Z</dcterms:modified>
</cp:coreProperties>
</file>