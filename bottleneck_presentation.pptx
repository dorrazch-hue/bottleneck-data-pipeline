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33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A336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A8D4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BottleNeck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6974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Automatisation de la chaîne de transformation et d'analyse de données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33375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Kestra complet : nettoyage, jointure, chiffre d'affaires, détection des vins premium, planification automatique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59436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D4E5"/>
                </a:solidFill>
              </a:rPr>
              <a:t>Dorra  —  Data Engineer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de la mission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5394960" cy="4846320"/>
          </a:xfrm>
          <a:prstGeom prst="rect">
            <a:avLst/>
          </a:prstGeom>
          <a:solidFill>
            <a:srgbClr val="F0E2CC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630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862A8"/>
                </a:solidFill>
              </a:rPr>
              <a:t>BottleNeck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48463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A3363"/>
                </a:solidFill>
              </a:rPr>
              <a:t>Marchand de vin en ligne et auprès d'entreprises
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A3363"/>
                </a:solidFill>
              </a:rPr>
              <a:t>Deux systèmes de données distincts : ERP (stock/prix) et CMS (ventes web)
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A3363"/>
                </a:solidFill>
              </a:rPr>
              <a:t>Une première analyse manuelle réalisée par Stéphane, Data Analyst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63640" y="1234440"/>
            <a:ext cx="5285232" cy="4846320"/>
          </a:xfrm>
          <a:prstGeom prst="rect">
            <a:avLst/>
          </a:prstGeom>
          <a:solidFill>
            <a:srgbClr val="8862A8"/>
          </a:solidFill>
          <a:ln/>
        </p:spPr>
      </p:sp>
      <p:sp>
        <p:nvSpPr>
          <p:cNvPr id="7" name="Text 5"/>
          <p:cNvSpPr/>
          <p:nvPr/>
        </p:nvSpPr>
        <p:spPr>
          <a:xfrm>
            <a:off x="6537960" y="14630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D4E5"/>
                </a:solidFill>
              </a:rPr>
              <a:t>Mon rôle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37960" y="201168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Automatiser la chaîne manuelle de Stéphane avec Kestra
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Fiabiliser chaque étape par des tests automatiques
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Livrer 3 extractions mensuelles : rapport CA, vins premium, vins ordinaires
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Planifier l'exécution automatique le 15 de chaque mois à 9h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démarche à industrialiser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2514600" cy="2743200"/>
          </a:xfrm>
          <a:prstGeom prst="roundRect">
            <a:avLst>
              <a:gd name="adj" fmla="val 2909"/>
            </a:avLst>
          </a:prstGeom>
          <a:solidFill>
            <a:srgbClr val="F0E2CC"/>
          </a:solidFill>
          <a:ln w="12700">
            <a:solidFill>
              <a:srgbClr val="E5D5C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7373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8D4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862A8"/>
                </a:solidFill>
              </a:rPr>
              <a:t>Nettoyage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8803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085"/>
                </a:solidFill>
              </a:rPr>
              <a:t>Suppression des valeurs manquantes et dédoublonnage des 3 fichiers sources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182112" y="246888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8D4E5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83280" y="1554480"/>
            <a:ext cx="2514600" cy="27432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5D5C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17373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8D4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566160" y="2377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862A8"/>
                </a:solidFill>
              </a:rPr>
              <a:t>Jointure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66160" y="28803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085"/>
                </a:solidFill>
              </a:rPr>
              <a:t>Fusion erp + web via le fichier liaison (clés : product_id / sku)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25312" y="246888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8D4E5"/>
                </a:solidFill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126480" y="1554480"/>
            <a:ext cx="2514600" cy="2743200"/>
          </a:xfrm>
          <a:prstGeom prst="roundRect">
            <a:avLst>
              <a:gd name="adj" fmla="val 2909"/>
            </a:avLst>
          </a:prstGeom>
          <a:solidFill>
            <a:srgbClr val="F0E2CC"/>
          </a:solidFill>
          <a:ln w="12700">
            <a:solidFill>
              <a:srgbClr val="E5D5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17373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8D4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309360" y="2377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862A8"/>
                </a:solidFill>
              </a:rPr>
              <a:t>Chiffre d'affaires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09360" y="28803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085"/>
                </a:solidFill>
              </a:rPr>
              <a:t>Calcul du CA par produit et du CA total sur les données fusionnées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668512" y="246888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8D4E5"/>
                </a:solidFill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869680" y="1554480"/>
            <a:ext cx="2514600" cy="27432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5D5C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17373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8D4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9052560" y="2377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862A8"/>
                </a:solidFill>
              </a:rPr>
              <a:t>Z-score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52560" y="28803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085"/>
                </a:solidFill>
              </a:rPr>
              <a:t>Identification des vins premium (z-score &gt; 2) et ordinaires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45720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085"/>
                </a:solidFill>
              </a:rPr>
              <a:t>Source : démarche transmise par Laurent (manager Data) — basée sur le travail de Stéphane, Data Analyst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Logigramme de l'automatisation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085"/>
                </a:solidFill>
              </a:rPr>
              <a:t>Conçu sur Draw.io — 3 nettoyages en parallèle, puis flux séquentiel, chaque étape validée par un test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914400" y="1417320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A8D4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4173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363"/>
                </a:solidFill>
              </a:rPr>
              <a:t>erp.xlsx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14400" y="205740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F7EF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574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3363"/>
                </a:solidFill>
              </a:rPr>
              <a:t>Nettoyage +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4A3363"/>
                </a:solidFill>
              </a:rPr>
              <a:t>dédoublonnage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2788920"/>
            <a:ext cx="2377440" cy="365760"/>
          </a:xfrm>
          <a:prstGeom prst="roundRect">
            <a:avLst>
              <a:gd name="adj" fmla="val 15000"/>
            </a:avLst>
          </a:prstGeom>
          <a:solidFill>
            <a:srgbClr val="8862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788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Test qualité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03120" y="1828800"/>
            <a:ext cx="0" cy="22860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103120" y="2560320"/>
            <a:ext cx="0" cy="22860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434840" y="1417320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A8D4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34840" y="14173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363"/>
                </a:solidFill>
              </a:rPr>
              <a:t>liaison.xlsx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34840" y="205740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F7EF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34840" y="20574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3363"/>
                </a:solidFill>
              </a:rPr>
              <a:t>Nettoyage +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4A3363"/>
                </a:solidFill>
              </a:rPr>
              <a:t>dédoublonnage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434840" y="2788920"/>
            <a:ext cx="2377440" cy="365760"/>
          </a:xfrm>
          <a:prstGeom prst="roundRect">
            <a:avLst>
              <a:gd name="adj" fmla="val 15000"/>
            </a:avLst>
          </a:prstGeom>
          <a:solidFill>
            <a:srgbClr val="8862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34840" y="2788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Test qualité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623560" y="1828800"/>
            <a:ext cx="0" cy="22860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623560" y="2560320"/>
            <a:ext cx="0" cy="22860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955280" y="1417320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A8D4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0" y="14173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363"/>
                </a:solidFill>
              </a:rPr>
              <a:t>web.xlsx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955280" y="205740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F7EF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0" y="20574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3363"/>
                </a:solidFill>
              </a:rPr>
              <a:t>Nettoyage +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4A3363"/>
                </a:solidFill>
              </a:rPr>
              <a:t>dédoublonnage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955280" y="2788920"/>
            <a:ext cx="2377440" cy="365760"/>
          </a:xfrm>
          <a:prstGeom prst="roundRect">
            <a:avLst>
              <a:gd name="adj" fmla="val 15000"/>
            </a:avLst>
          </a:prstGeom>
          <a:solidFill>
            <a:srgbClr val="8862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55280" y="2788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Test qualité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9144000" y="1828800"/>
            <a:ext cx="0" cy="22860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144000" y="2560320"/>
            <a:ext cx="0" cy="22860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434840" y="3429000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4A33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34840" y="34290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D4E5"/>
                </a:solidFill>
              </a:rPr>
              <a:t>Jointure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103120" y="3154680"/>
            <a:ext cx="3017520" cy="27432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5623560" y="3154680"/>
            <a:ext cx="0" cy="27432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144000" y="3154680"/>
            <a:ext cx="-3017520" cy="27432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4434840" y="3977640"/>
            <a:ext cx="2377440" cy="365760"/>
          </a:xfrm>
          <a:prstGeom prst="roundRect">
            <a:avLst>
              <a:gd name="adj" fmla="val 15000"/>
            </a:avLst>
          </a:prstGeom>
          <a:solidFill>
            <a:srgbClr val="8862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34840" y="3977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Test jointure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23560" y="3840480"/>
            <a:ext cx="0" cy="13716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434840" y="4526280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F7EF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34840" y="45262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3363"/>
                </a:solidFill>
              </a:rPr>
              <a:t>Calcul du CA + test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23560" y="4343400"/>
            <a:ext cx="0" cy="18288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4434840" y="5074920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F7EF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34840" y="50749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3363"/>
                </a:solidFill>
              </a:rPr>
              <a:t>Détection z-score + test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23560" y="4937760"/>
            <a:ext cx="0" cy="13716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914400" y="5806440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E8B4C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58064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3363"/>
                </a:solidFill>
              </a:rPr>
              <a:t>Rapport CA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A3363"/>
                </a:solidFill>
              </a:rPr>
              <a:t>(.xlsx)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34840" y="5806440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E8B4C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34840" y="58064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3363"/>
                </a:solidFill>
              </a:rPr>
              <a:t>Vins premium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A3363"/>
                </a:solidFill>
              </a:rPr>
              <a:t>(.csv)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955280" y="5806440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E8B4C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55280" y="58064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3363"/>
                </a:solidFill>
              </a:rPr>
              <a:t>Vins ordinaires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A3363"/>
                </a:solidFill>
              </a:rPr>
              <a:t>(.csv)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937760" y="5486400"/>
            <a:ext cx="-2834640" cy="32004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623560" y="5486400"/>
            <a:ext cx="0" cy="32004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6309360" y="5486400"/>
            <a:ext cx="2834640" cy="32004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technique sur Kestra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57800" cy="2103120"/>
          </a:xfrm>
          <a:prstGeom prst="rect">
            <a:avLst/>
          </a:prstGeom>
          <a:solidFill>
            <a:srgbClr val="F0E2CC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55448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862A8"/>
                </a:solidFill>
              </a:rPr>
              <a:t>Parallel + WorkingDirectory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2057400"/>
            <a:ext cx="4709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3363"/>
                </a:solidFill>
              </a:rPr>
              <a:t>Les 3 nettoyages (erp/web/liaison) tournent en parallèle (tâche Parallel), chacun dans son propre WorkingDirectory pour charger les fichiers sources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172200" y="1371600"/>
            <a:ext cx="5257800" cy="2103120"/>
          </a:xfrm>
          <a:prstGeom prst="rect">
            <a:avLst/>
          </a:prstGeom>
          <a:solidFill>
            <a:srgbClr val="F0E2CC"/>
          </a:solidFill>
          <a:ln/>
        </p:spPr>
      </p:sp>
      <p:sp>
        <p:nvSpPr>
          <p:cNvPr id="7" name="Text 5"/>
          <p:cNvSpPr/>
          <p:nvPr/>
        </p:nvSpPr>
        <p:spPr>
          <a:xfrm>
            <a:off x="6446520" y="155448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862A8"/>
                </a:solidFill>
              </a:rPr>
              <a:t>Namespace Files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46520" y="2057400"/>
            <a:ext cx="4709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3363"/>
                </a:solidFill>
              </a:rPr>
              <a:t>Les 3 fichiers sources et les scripts sont déposés une fois dans Kestra ; il suffira de les remplacer chaque mois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257800" cy="2103120"/>
          </a:xfrm>
          <a:prstGeom prst="rect">
            <a:avLst/>
          </a:prstGeom>
          <a:solidFill>
            <a:srgbClr val="F0E2CC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93192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862A8"/>
                </a:solidFill>
              </a:rPr>
              <a:t>Planification + résilience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4434840"/>
            <a:ext cx="4709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3363"/>
                </a:solidFill>
              </a:rPr>
              <a:t>Déclenchement automatique via cron (15 du mois, 9h), retry (3 tentatives) sur chaque tâche, alerte automatique en cas d'échec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3749040"/>
            <a:ext cx="5257800" cy="2103120"/>
          </a:xfrm>
          <a:prstGeom prst="rect">
            <a:avLst/>
          </a:prstGeom>
          <a:solidFill>
            <a:srgbClr val="F0E2CC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393192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862A8"/>
                </a:solidFill>
              </a:rPr>
              <a:t>Switch de routage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46520" y="4434840"/>
            <a:ext cx="4709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3363"/>
                </a:solidFill>
              </a:rPr>
              <a:t>Une tâche de comptage (toujours en succès) puis une tâche de vérification dédiée décident du chemin : s'il y a au moins un vin premium, extraction des deux catégories ; sinon, extraction des ordinaires seuls + alerte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Topologie du workflow dans Kestra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085"/>
                </a:solidFill>
              </a:rPr>
              <a:t>Capture d'écran réelle de Kestra (onglet Topology) — déclencheur, nettoyages en parallèle (3 branches), suite du pipeline, comptage et Switch de routage des extractions</a:t>
            </a:r>
            <a:endParaRPr lang="en-US" sz="1200" dirty="0"/>
          </a:p>
        </p:txBody>
      </p:sp>
      <p:pic>
        <p:nvPicPr>
          <p:cNvPr id="4" name="Image 0" descr="/home/claude/pptx_work3/topology_n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1280160"/>
            <a:ext cx="3931920" cy="56418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Exécution complète réussie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085"/>
                </a:solidFill>
              </a:rPr>
              <a:t>Exécution réelle et complète (capture Kestra) — les 3 nettoyages tournent bien en parallèle (barres alignées), puis jointure → CA → z-score → Switch → extractions premium/ordinaires, toutes en succès</a:t>
            </a:r>
            <a:endParaRPr lang="en-US" sz="1200" dirty="0"/>
          </a:p>
        </p:txBody>
      </p:sp>
      <p:pic>
        <p:nvPicPr>
          <p:cNvPr id="4" name="Image 0" descr="/home/claude/pptx_work3/gantt_n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11183112" cy="47000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Tests et résilience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E8B4C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3363"/>
                </a:solidFill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43000" y="138988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3363"/>
                </a:solidFill>
              </a:rPr>
              <a:t>Absence de doublons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74920" y="1389888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085"/>
                </a:solidFill>
              </a:rPr>
              <a:t>Sur erp, web et liaison, après nettoyage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1984248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E8B4C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842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3363"/>
                </a:solidFill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43000" y="1956816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3363"/>
                </a:solidFill>
              </a:rPr>
              <a:t>Absence de valeurs manquantes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74920" y="1956816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085"/>
                </a:solidFill>
              </a:rPr>
              <a:t>Sur les clés primaires de chaque fichier source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2551176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E8B4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55117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3363"/>
                </a:solidFill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43000" y="2523744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3363"/>
                </a:solidFill>
              </a:rPr>
              <a:t>Cohérence de la jointure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74920" y="252374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085"/>
                </a:solidFill>
              </a:rPr>
              <a:t>Aucune ligne perdue ou dupliquée par le JOIN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118104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E8B4C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11810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3363"/>
                </a:solidFill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43000" y="309067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3363"/>
                </a:solidFill>
              </a:rPr>
              <a:t>Cohérence du chiffre d'affaires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74920" y="3090672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085"/>
                </a:solidFill>
              </a:rPr>
              <a:t>Somme du détail par produit = total calculé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685032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E8B4C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68503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3363"/>
                </a:solidFill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43000" y="3657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3363"/>
                </a:solidFill>
              </a:rPr>
              <a:t>Cohérence du z-score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74920" y="36576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085"/>
                </a:solidFill>
              </a:rPr>
              <a:t>Classification premium/ordinaire respecte bien le seuil de 2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4709160"/>
            <a:ext cx="10881360" cy="1463040"/>
          </a:xfrm>
          <a:prstGeom prst="rect">
            <a:avLst/>
          </a:prstGeom>
          <a:solidFill>
            <a:srgbClr val="8862A8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89204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Chaque test utilise la fonction error() de DuckDB : un contrôle échoué fait échouer la tâche, déclenche jusqu'à 3 tentatives (retry), puis une alerte automatique si l'échec persiste — plutôt que de laisser passer une donnée invalide.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validés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1371600"/>
          <a:ext cx="9418320" cy="4206240"/>
        </p:xfrm>
        <a:graphic>
          <a:graphicData uri="http://schemas.openxmlformats.org/drawingml/2006/table">
            <a:tbl>
              <a:tblPr/>
              <a:tblGrid>
                <a:gridCol w="4114800"/>
                <a:gridCol w="3108960"/>
                <a:gridCol w="2194560"/>
              </a:tblGrid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Étape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62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Attendu (Laurent)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62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Obtenu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62A8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erp nettoyé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825 lignes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825 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liaison nettoyé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825 lignes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825 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2C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web nettoyé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1428 lignes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1428 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web dédoublonné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714 lignes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714 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2C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Fichier fusionné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714 lignes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714 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CA total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70 568,60 €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70 568,60 € 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2C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Vins premium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30 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085"/>
                </a:solidFill>
              </a:rPr>
              <a:t>Chaque chiffre a été vérifié sur les données réelles avant intégration dans Kestra, puis confirmé en exécution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Défis techniques rencontrés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57800" cy="2103120"/>
          </a:xfrm>
          <a:prstGeom prst="rect">
            <a:avLst/>
          </a:prstGeom>
          <a:solidFill>
            <a:srgbClr val="F0E2CC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55448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862A8"/>
                </a:solidFill>
              </a:rPr>
              <a:t>Données hétérogènes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029968"/>
            <a:ext cx="47091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3363"/>
                </a:solidFill>
              </a:rPr>
              <a:t>Un produit « bon cadeau » avait un identifiant texte, pas numérique — corrigé en forçant la lecture en texte puis reconversion ciblée (TRY_CAST)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172200" y="1371600"/>
            <a:ext cx="5257800" cy="2103120"/>
          </a:xfrm>
          <a:prstGeom prst="rect">
            <a:avLst/>
          </a:prstGeom>
          <a:solidFill>
            <a:srgbClr val="F0E2CC"/>
          </a:solidFill>
          <a:ln/>
        </p:spPr>
      </p:sp>
      <p:sp>
        <p:nvSpPr>
          <p:cNvPr id="7" name="Text 5"/>
          <p:cNvSpPr/>
          <p:nvPr/>
        </p:nvSpPr>
        <p:spPr>
          <a:xfrm>
            <a:off x="6446520" y="155448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862A8"/>
                </a:solidFill>
              </a:rPr>
              <a:t>Dédoublonnage ambigu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46520" y="2029968"/>
            <a:ext cx="47091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3363"/>
                </a:solidFill>
              </a:rPr>
              <a:t>Le fichier web contient 2 lignes par produit avec des chiffres de vente parfois différents — résolu en priorisant explicitement la ligne « product »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257800" cy="2103120"/>
          </a:xfrm>
          <a:prstGeom prst="rect">
            <a:avLst/>
          </a:prstGeom>
          <a:solidFill>
            <a:srgbClr val="F0E2CC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93192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862A8"/>
                </a:solidFill>
              </a:rPr>
              <a:t>Partage de fichiers entre moteurs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4407408"/>
            <a:ext cx="47091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3363"/>
                </a:solidFill>
              </a:rPr>
              <a:t>Un script Python isolé ne trouvait jamais le fichier produit par SQL — diagnostiqué (recherche système) : les tâches SQL et le serveur Kestra partagent /app, le Python a son propre dossier. Résolu.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3749040"/>
            <a:ext cx="5257800" cy="2103120"/>
          </a:xfrm>
          <a:prstGeom prst="rect">
            <a:avLst/>
          </a:prstGeom>
          <a:solidFill>
            <a:srgbClr val="F0E2CC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393192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862A8"/>
                </a:solidFill>
              </a:rPr>
              <a:t>Condition du Switch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46520" y="4407408"/>
            <a:ext cx="47091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3363"/>
                </a:solidFill>
              </a:rPr>
              <a:t>Impossible de faire lire au Switch une valeur calculée directement — résolu en séparant comptage (toujours réussi) et vérification (échoue si zéro), le Switch lisant l'état de la vérification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A33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A336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D4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BottleNeck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30632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4C5E8"/>
                </a:solidFill>
              </a:rPr>
              <a:t>Nettoyage parallélisé → jointure → chiffre d'affaires → détection z-score → extractions conditionnelles, entièrement automatisé et testé sur Kestra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D4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de votre attention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48006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Questions 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2026-08-31T11:18:25Z</dcterms:created>
  <dcterms:modified xsi:type="dcterms:W3CDTF">2026-08-31T11:18:25Z</dcterms:modified>
</cp:coreProperties>
</file>